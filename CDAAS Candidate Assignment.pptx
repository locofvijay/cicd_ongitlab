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F6857-755F-A991-CBFC-6852CC08D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3AE3A-85CF-F3AF-66F9-E1022C82A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8E061-BF3C-D044-FDA8-0BB63F3A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65887-9CA9-D38A-9050-48667D7E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58CDA-CAC7-4D48-3A07-07A374D26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2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8F08C-B9DE-D2FF-0F1F-088FA979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A5C65-6645-BDBC-60E8-0B2B5504D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48967-2DD1-138D-4AA4-099A23A86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F6952-5B79-E941-CA42-A6FEB693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92553-C8FF-5996-CDCC-51B435AF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7CF4E-47EC-DC35-0602-D47C7B1B4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FA2D1-0B0D-C518-B4AC-4F544FCD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13EA5-EB7F-97CC-D33D-33B0759F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54DCD-09C5-123E-D05F-0B7ED4445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3A295-AD4D-F031-0454-5BBB050E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7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42B38-1397-6B5C-7029-AAD56F271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98D5-DE1E-1B12-6E4C-5E4D17DEA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7F07E-E4EE-A924-5BEA-DCFA5D1F3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5DDD8-B140-E3E1-6C35-09EA3F7E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94C06-E0F9-A04A-83A2-78891282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8BDF3-55D5-EB4A-8464-FEAD7516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90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AE95-A6E4-21A8-7ED6-E51F4618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F2E8F-5119-8DE5-78DF-732A8439B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A179-D883-206B-AD44-66FCF536A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2D3D3-37E5-6BE2-420C-B46A22757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52CEC-7F55-24B0-BDF7-018EE8516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1158F-5E5C-69FC-B2B2-79496074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65AA27-51BE-EF42-9980-AC885B78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9A1BE-F9A6-8922-6C01-F696206DB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9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E30D-D599-5185-4BD0-F152E7C8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9EC89-BFB5-14E5-5EAA-2C5C0568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39EED-FB92-8471-9984-6C861C1C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68D0D-CE38-2AD6-1F7B-A034DB4D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7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A9463D-F965-3511-9910-47A203A5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00CC0-38AA-BBFC-CEFD-71195780D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FBFAF-6800-3821-7134-7988F1BA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6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BA47-C40C-CA18-A88A-FDDC53B9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84A72-0D12-2E71-3B4E-65B2364EB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69257-A1ED-0DA0-F0FF-21793C8C2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258C8-3D65-77D5-8372-90ABF7BC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7E9E7-4723-51B8-3E80-FE79210F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EF094-572E-BC76-E56B-48630486F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4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6569-0736-9A35-49A5-4A2423C7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B06C8-3E7C-C5AE-0CF4-B844B9210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2EFB6-45E1-A444-02E3-885D12BCC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5A121-723A-6AA1-CCC6-91C843A9B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3A1D7-07E5-F45C-82AD-9CAF5FF9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D6591-2C47-3AAE-5CCE-42A19CEE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6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79FB-2607-A7CC-CBE9-AB6D82FA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20396-AE59-CCA2-09F2-E22205216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23162-833C-89A6-A5AC-6BE9F676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B2118-0A41-D95E-7043-C829A8A45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65A70-C108-0833-4AB7-3F88F25F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16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8B442-D3DB-E9CA-40FF-AA95BDB95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77FA4-8643-700F-B309-20D1F29BC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C3A3E-E1E1-FE37-F5E3-DA20EEFC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E9897-D195-DF97-DDCA-B3686FC0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837B6-37CB-EFE0-885F-28A78615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0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11333-6065-0922-3EB3-27D73746B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E7B98-449F-EA52-A23B-B4DC096AF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27AD8-187F-6048-92D1-E215FAA67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486A5-FB80-4EEE-A45A-B4E055FA7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EF8AA-18BA-4BB1-51AF-C22D2918E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BEBAD-8878-5BF9-688F-E6F280ABE4C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05500" y="6365240"/>
            <a:ext cx="41275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423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3798-AE77-ED97-22A2-D77A63C83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US" dirty="0"/>
              <a:t>CDAAS Candidate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AFB41-4543-F781-347C-696D6970E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26" y="4846029"/>
            <a:ext cx="6027172" cy="1375512"/>
          </a:xfrm>
        </p:spPr>
        <p:txBody>
          <a:bodyPr anchor="ctr">
            <a:normAutofit/>
          </a:bodyPr>
          <a:lstStyle/>
          <a:p>
            <a:r>
              <a:rPr lang="en-US" dirty="0"/>
              <a:t>Components and Flow Of CI/CD Pipeline</a:t>
            </a: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D7207EF1-C634-980F-5BB8-DE65E88CD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56" r="20021" b="-1"/>
          <a:stretch>
            <a:fillRect/>
          </a:stretch>
        </p:blipFill>
        <p:spPr>
          <a:xfrm>
            <a:off x="6095999" y="10"/>
            <a:ext cx="609600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3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E2F1ED-89C5-B116-5CB2-B26C7D0F0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07" y="102609"/>
            <a:ext cx="11096838" cy="67553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2F7AF4-86A6-8FA2-B60F-83B62807F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92" y="102609"/>
            <a:ext cx="11292727" cy="57581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GitLab CI Docker Pipeline-Architecture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204379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648A6E-EAB4-1A9D-ED84-2E4162001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16" y="803868"/>
            <a:ext cx="10767646" cy="60541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EBF2D7-1B92-BE22-FC1B-1BB554CB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CI/CD Swimlane Diagram</a:t>
            </a:r>
          </a:p>
        </p:txBody>
      </p:sp>
    </p:spTree>
    <p:extLst>
      <p:ext uri="{BB962C8B-B14F-4D97-AF65-F5344CB8AC3E}">
        <p14:creationId xmlns:p14="http://schemas.microsoft.com/office/powerpoint/2010/main" val="555847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F529-95FD-5CB8-CB87-7C1936957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" y="79990"/>
            <a:ext cx="11936361" cy="588604"/>
          </a:xfrm>
        </p:spPr>
        <p:txBody>
          <a:bodyPr>
            <a:normAutofit fontScale="90000"/>
          </a:bodyPr>
          <a:lstStyle/>
          <a:p>
            <a:r>
              <a:rPr lang="en-US" dirty="0"/>
              <a:t>Challenges - </a:t>
            </a:r>
            <a:r>
              <a:rPr lang="en-US" b="1" dirty="0"/>
              <a:t>Real-World Engineering Experience . . 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433A-8441-232E-F9C5-698E431A9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730"/>
            <a:ext cx="10515600" cy="5596860"/>
          </a:xfrm>
        </p:spPr>
        <p:txBody>
          <a:bodyPr>
            <a:normAutofit/>
          </a:bodyPr>
          <a:lstStyle/>
          <a:p>
            <a:r>
              <a:rPr lang="en-US" dirty="0"/>
              <a:t>GitLab Account &amp; Pipeline Gating (Non-technical but Critical)</a:t>
            </a:r>
          </a:p>
          <a:p>
            <a:r>
              <a:rPr lang="en-US" b="1" dirty="0"/>
              <a:t>Challenge</a:t>
            </a:r>
            <a:endParaRPr lang="en-US" dirty="0"/>
          </a:p>
          <a:p>
            <a:pPr lvl="1"/>
            <a:r>
              <a:rPr lang="en-US" dirty="0"/>
              <a:t>GitLab blocked pipelines with the error:</a:t>
            </a:r>
          </a:p>
          <a:p>
            <a:pPr lvl="2"/>
            <a:r>
              <a:rPr lang="en-US" i="1" dirty="0"/>
              <a:t>“Identity verification is required in order to run CI jobs”</a:t>
            </a:r>
            <a:endParaRPr lang="en-US" dirty="0"/>
          </a:p>
          <a:p>
            <a:pPr lvl="1"/>
            <a:r>
              <a:rPr lang="en-US" dirty="0"/>
              <a:t>Pipelines failed silently until the account was verified.</a:t>
            </a:r>
          </a:p>
          <a:p>
            <a:r>
              <a:rPr lang="en-US" b="1" dirty="0"/>
              <a:t>Resolution</a:t>
            </a:r>
            <a:endParaRPr lang="en-US" dirty="0"/>
          </a:p>
          <a:p>
            <a:pPr lvl="1"/>
            <a:r>
              <a:rPr lang="en-US" dirty="0"/>
              <a:t>Completed identity verification via phone number + OTP.</a:t>
            </a:r>
          </a:p>
          <a:p>
            <a:pPr lvl="1"/>
            <a:r>
              <a:rPr lang="en-US" dirty="0"/>
              <a:t>Re-triggered pipelines manually (retry / empty commit).</a:t>
            </a:r>
          </a:p>
          <a:p>
            <a:r>
              <a:rPr lang="en-US" b="1" dirty="0"/>
              <a:t>Lesson</a:t>
            </a:r>
            <a:endParaRPr lang="en-US" dirty="0"/>
          </a:p>
          <a:p>
            <a:pPr lvl="1"/>
            <a:r>
              <a:rPr lang="en-US" dirty="0"/>
              <a:t>CI failures are not always technical.</a:t>
            </a:r>
          </a:p>
          <a:p>
            <a:pPr lvl="1"/>
            <a:r>
              <a:rPr lang="en-US" dirty="0"/>
              <a:t>Platform-level controls (security, abuse prevention) can block pipelines before any job executes.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96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10B1-E4FF-24FE-37C7-61E94EF5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-8502"/>
            <a:ext cx="11985523" cy="539442"/>
          </a:xfrm>
        </p:spPr>
        <p:txBody>
          <a:bodyPr>
            <a:normAutofit fontScale="90000"/>
          </a:bodyPr>
          <a:lstStyle/>
          <a:p>
            <a:r>
              <a:rPr lang="en-US" dirty="0"/>
              <a:t>Challenges - </a:t>
            </a:r>
            <a:r>
              <a:rPr lang="en-US" b="1" dirty="0"/>
              <a:t>Real-World Engineering Experience . . 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738D4-515A-5C22-D0B3-B12A94C24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6915"/>
            <a:ext cx="10515600" cy="572467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GitLab Runner Registration &amp; Visibility</a:t>
            </a:r>
          </a:p>
          <a:p>
            <a:r>
              <a:rPr lang="en-US" b="1" dirty="0"/>
              <a:t>Challenge</a:t>
            </a:r>
            <a:endParaRPr lang="en-US" dirty="0"/>
          </a:p>
          <a:p>
            <a:pPr lvl="1"/>
            <a:r>
              <a:rPr lang="en-US" dirty="0"/>
              <a:t>The private GitLab Runner initially showed:</a:t>
            </a:r>
          </a:p>
          <a:p>
            <a:pPr lvl="2"/>
            <a:r>
              <a:rPr lang="en-US" i="1" dirty="0"/>
              <a:t>“Runner has never contacted this instance”</a:t>
            </a:r>
            <a:endParaRPr lang="en-US" dirty="0"/>
          </a:p>
          <a:p>
            <a:pPr lvl="1"/>
            <a:r>
              <a:rPr lang="en-US" dirty="0"/>
              <a:t>Runner was running locally, but GitLab did not recognize it.</a:t>
            </a:r>
          </a:p>
          <a:p>
            <a:r>
              <a:rPr lang="en-US" b="1" dirty="0"/>
              <a:t>Root Causes</a:t>
            </a:r>
            <a:endParaRPr lang="en-US" dirty="0"/>
          </a:p>
          <a:p>
            <a:pPr lvl="1"/>
            <a:r>
              <a:rPr lang="en-US" dirty="0"/>
              <a:t>Missing or incorrect registration token.</a:t>
            </a:r>
          </a:p>
          <a:p>
            <a:pPr lvl="1"/>
            <a:r>
              <a:rPr lang="en-US" dirty="0"/>
              <a:t>Runner registered without tags.</a:t>
            </a:r>
          </a:p>
          <a:p>
            <a:pPr lvl="1"/>
            <a:r>
              <a:rPr lang="en-US" dirty="0"/>
              <a:t>Runner not allowed to run untagged jobs.</a:t>
            </a:r>
          </a:p>
          <a:p>
            <a:r>
              <a:rPr lang="en-US" b="1" dirty="0"/>
              <a:t>Resolution</a:t>
            </a:r>
            <a:endParaRPr lang="en-US" dirty="0"/>
          </a:p>
          <a:p>
            <a:pPr lvl="1"/>
            <a:r>
              <a:rPr lang="en-US" dirty="0"/>
              <a:t>Re-registered runner using project registration token.</a:t>
            </a:r>
          </a:p>
          <a:p>
            <a:pPr lvl="1"/>
            <a:r>
              <a:rPr lang="en-US" dirty="0"/>
              <a:t>Added:</a:t>
            </a:r>
          </a:p>
          <a:p>
            <a:pPr lvl="2"/>
            <a:r>
              <a:rPr lang="en-US" dirty="0" err="1"/>
              <a:t>tag_list</a:t>
            </a:r>
            <a:r>
              <a:rPr lang="en-US" dirty="0"/>
              <a:t> = ["docker-runner"]</a:t>
            </a:r>
          </a:p>
          <a:p>
            <a:pPr lvl="2"/>
            <a:r>
              <a:rPr lang="en-US" dirty="0" err="1"/>
              <a:t>run_untagged</a:t>
            </a:r>
            <a:r>
              <a:rPr lang="en-US" dirty="0"/>
              <a:t> = true</a:t>
            </a:r>
          </a:p>
          <a:p>
            <a:pPr lvl="1"/>
            <a:r>
              <a:rPr lang="en-US" dirty="0"/>
              <a:t>Verified connectivity with </a:t>
            </a:r>
            <a:r>
              <a:rPr lang="en-US" dirty="0" err="1"/>
              <a:t>gitlab</a:t>
            </a:r>
            <a:r>
              <a:rPr lang="en-US" dirty="0"/>
              <a:t>-runner verify.</a:t>
            </a:r>
          </a:p>
          <a:p>
            <a:r>
              <a:rPr lang="en-US" b="1" dirty="0"/>
              <a:t>Lesson</a:t>
            </a:r>
            <a:endParaRPr lang="en-US" dirty="0"/>
          </a:p>
          <a:p>
            <a:r>
              <a:rPr lang="en-US" dirty="0"/>
              <a:t>Runner availability ≠ runner eligibility.</a:t>
            </a:r>
          </a:p>
          <a:p>
            <a:r>
              <a:rPr lang="en-US" dirty="0"/>
              <a:t>Tags and job–runner matching are critical.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47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8ECC-0F19-2B44-5F73-9CDDD7ECE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8155" y="50496"/>
            <a:ext cx="12300155" cy="53944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Challenges - </a:t>
            </a:r>
            <a:r>
              <a:rPr lang="en-US" b="1" dirty="0"/>
              <a:t>Real-World Engineering Experience . . 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55EEA-2695-33E9-5392-57F97FB58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5409"/>
            <a:ext cx="10515600" cy="5587024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Windows + Docker Desktop Networking Pitfalls</a:t>
            </a:r>
          </a:p>
          <a:p>
            <a:r>
              <a:rPr lang="en-US" b="1" dirty="0"/>
              <a:t>Challenge</a:t>
            </a:r>
            <a:endParaRPr lang="en-US" dirty="0"/>
          </a:p>
          <a:p>
            <a:pPr lvl="1"/>
            <a:r>
              <a:rPr lang="en-US" dirty="0"/>
              <a:t>Docker-in-Docker (</a:t>
            </a:r>
            <a:r>
              <a:rPr lang="en-US" dirty="0" err="1"/>
              <a:t>docker:dind</a:t>
            </a:r>
            <a:r>
              <a:rPr lang="en-US" dirty="0"/>
              <a:t>) failed with:</a:t>
            </a:r>
          </a:p>
          <a:p>
            <a:pPr lvl="2"/>
            <a:r>
              <a:rPr lang="en-US" dirty="0"/>
              <a:t>lookup docker: no such host</a:t>
            </a:r>
          </a:p>
          <a:p>
            <a:pPr lvl="1"/>
            <a:r>
              <a:rPr lang="en-US" dirty="0"/>
              <a:t>Service containers were not consistently reachable.</a:t>
            </a:r>
          </a:p>
          <a:p>
            <a:r>
              <a:rPr lang="en-US" b="1" dirty="0"/>
              <a:t>Root Cause</a:t>
            </a:r>
            <a:endParaRPr lang="en-US" dirty="0"/>
          </a:p>
          <a:p>
            <a:pPr lvl="1"/>
            <a:r>
              <a:rPr lang="en-US" dirty="0"/>
              <a:t>Docker Desktop on Windows does not handle privileged sibling containers (</a:t>
            </a:r>
            <a:r>
              <a:rPr lang="en-US" dirty="0" err="1"/>
              <a:t>DinD</a:t>
            </a:r>
            <a:r>
              <a:rPr lang="en-US" dirty="0"/>
              <a:t>) as reliably as Linux.</a:t>
            </a:r>
          </a:p>
          <a:p>
            <a:pPr lvl="1"/>
            <a:r>
              <a:rPr lang="en-US" dirty="0"/>
              <a:t>Conflicting configurations (socket + </a:t>
            </a:r>
            <a:r>
              <a:rPr lang="en-US" dirty="0" err="1"/>
              <a:t>DinD</a:t>
            </a:r>
            <a:r>
              <a:rPr lang="en-US" dirty="0"/>
              <a:t>) worsened the issue.</a:t>
            </a:r>
          </a:p>
          <a:p>
            <a:r>
              <a:rPr lang="en-US" b="1" dirty="0"/>
              <a:t>Resolution</a:t>
            </a:r>
            <a:endParaRPr lang="en-US" dirty="0"/>
          </a:p>
          <a:p>
            <a:pPr lvl="1"/>
            <a:r>
              <a:rPr lang="en-US" dirty="0"/>
              <a:t>Abandoned </a:t>
            </a:r>
            <a:r>
              <a:rPr lang="en-US" dirty="0" err="1"/>
              <a:t>DinD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Switched to </a:t>
            </a:r>
            <a:r>
              <a:rPr lang="en-US" b="1" dirty="0"/>
              <a:t>Docker socket mode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volumes = ["/var/run/</a:t>
            </a:r>
            <a:r>
              <a:rPr lang="en-US" dirty="0" err="1"/>
              <a:t>docker.sock</a:t>
            </a:r>
            <a:r>
              <a:rPr lang="en-US" dirty="0"/>
              <a:t>:/var/run/</a:t>
            </a:r>
            <a:r>
              <a:rPr lang="en-US" dirty="0" err="1"/>
              <a:t>docker.sock</a:t>
            </a:r>
            <a:r>
              <a:rPr lang="en-US" dirty="0"/>
              <a:t>"]</a:t>
            </a:r>
          </a:p>
          <a:p>
            <a:pPr lvl="1"/>
            <a:r>
              <a:rPr lang="en-US" dirty="0"/>
              <a:t>Simplified job configuration by removing services: and DOCKER_HOST.</a:t>
            </a:r>
          </a:p>
          <a:p>
            <a:r>
              <a:rPr lang="en-US" b="1" dirty="0"/>
              <a:t>Lesson</a:t>
            </a:r>
            <a:endParaRPr lang="en-US" dirty="0"/>
          </a:p>
          <a:p>
            <a:pPr lvl="1"/>
            <a:r>
              <a:rPr lang="en-US" dirty="0"/>
              <a:t>Local CI runners ≠ Linux CI runners.</a:t>
            </a:r>
          </a:p>
          <a:p>
            <a:pPr lvl="1"/>
            <a:r>
              <a:rPr lang="en-US" dirty="0"/>
              <a:t>Tooling choices must fit the execution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3911799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4ED2-3BA2-BB40-88AE-37920BA81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14-4578-89EB-F473-987C5EAF9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657" y="60325"/>
            <a:ext cx="12486968" cy="48044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Challenges - </a:t>
            </a:r>
            <a:r>
              <a:rPr lang="en-US" b="1" dirty="0"/>
              <a:t>Real-World Engineering Experience . . 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86FCA-2910-FC3D-02B7-6B5D3D630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5575"/>
            <a:ext cx="10515600" cy="5636189"/>
          </a:xfrm>
        </p:spPr>
        <p:txBody>
          <a:bodyPr>
            <a:normAutofit lnSpcReduction="10000"/>
          </a:bodyPr>
          <a:lstStyle/>
          <a:p>
            <a:r>
              <a:rPr lang="sv-SE" dirty="0"/>
              <a:t>Docker Client vs Docker Server API Version Mismatch</a:t>
            </a:r>
          </a:p>
          <a:p>
            <a:r>
              <a:rPr lang="en-US" b="1" dirty="0"/>
              <a:t>Challenge</a:t>
            </a:r>
            <a:endParaRPr lang="en-US" dirty="0"/>
          </a:p>
          <a:p>
            <a:pPr lvl="1"/>
            <a:r>
              <a:rPr lang="en-US" dirty="0"/>
              <a:t>Publish stage failed with:</a:t>
            </a:r>
          </a:p>
          <a:p>
            <a:pPr lvl="1"/>
            <a:r>
              <a:rPr lang="en-US" dirty="0"/>
              <a:t>client version 1.43 is too old. Minimum supported API version is 1.44</a:t>
            </a:r>
          </a:p>
          <a:p>
            <a:r>
              <a:rPr lang="en-US" b="1" dirty="0"/>
              <a:t>Root Cause</a:t>
            </a:r>
            <a:endParaRPr lang="en-US" dirty="0"/>
          </a:p>
          <a:p>
            <a:pPr lvl="1"/>
            <a:r>
              <a:rPr lang="en-US" dirty="0"/>
              <a:t>Job container used an older Docker CLI image.</a:t>
            </a:r>
          </a:p>
          <a:p>
            <a:pPr lvl="1"/>
            <a:r>
              <a:rPr lang="en-US" dirty="0"/>
              <a:t>Host Docker Desktop daemon was very new (API 1.53).</a:t>
            </a:r>
          </a:p>
          <a:p>
            <a:r>
              <a:rPr lang="en-US" b="1" dirty="0"/>
              <a:t>Resolution</a:t>
            </a:r>
            <a:endParaRPr lang="en-US" dirty="0"/>
          </a:p>
          <a:p>
            <a:pPr lvl="1"/>
            <a:r>
              <a:rPr lang="en-US" dirty="0"/>
              <a:t>Upgraded job image to:</a:t>
            </a:r>
          </a:p>
          <a:p>
            <a:pPr lvl="2"/>
            <a:r>
              <a:rPr lang="en-US" dirty="0"/>
              <a:t>image: </a:t>
            </a:r>
            <a:r>
              <a:rPr lang="en-US" dirty="0" err="1"/>
              <a:t>docker:latest</a:t>
            </a:r>
            <a:endParaRPr lang="en-US" dirty="0"/>
          </a:p>
          <a:p>
            <a:pPr lvl="1"/>
            <a:r>
              <a:rPr lang="en-US" dirty="0"/>
              <a:t>Added docker version logging for future diagnostics.</a:t>
            </a:r>
          </a:p>
          <a:p>
            <a:r>
              <a:rPr lang="en-US" b="1" dirty="0"/>
              <a:t>Lesson</a:t>
            </a:r>
            <a:endParaRPr lang="en-US" dirty="0"/>
          </a:p>
          <a:p>
            <a:pPr lvl="1"/>
            <a:r>
              <a:rPr lang="en-US" dirty="0"/>
              <a:t>In socket mode, </a:t>
            </a:r>
            <a:r>
              <a:rPr lang="en-US" b="1" dirty="0"/>
              <a:t>client–server compatibility matters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CI images must track daemon versions.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25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38BEE-4046-F08A-395A-33060167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DD79-419F-7A5E-E60C-F131B2F1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660"/>
            <a:ext cx="12359148" cy="50994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Challenges - </a:t>
            </a:r>
            <a:r>
              <a:rPr lang="en-US" b="1" dirty="0"/>
              <a:t>Real-World Engineering Experience . . 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6B5AD-0D4A-602F-2520-F0984DD2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5742"/>
            <a:ext cx="10515600" cy="5626357"/>
          </a:xfrm>
        </p:spPr>
        <p:txBody>
          <a:bodyPr>
            <a:normAutofit/>
          </a:bodyPr>
          <a:lstStyle/>
          <a:p>
            <a:r>
              <a:rPr lang="en-US" dirty="0"/>
              <a:t>UTF-16 Encoding Corruption of </a:t>
            </a:r>
            <a:r>
              <a:rPr lang="en-US" dirty="0" err="1"/>
              <a:t>config.toml</a:t>
            </a:r>
            <a:endParaRPr lang="en-US" dirty="0"/>
          </a:p>
          <a:p>
            <a:r>
              <a:rPr lang="en-US" b="1" dirty="0"/>
              <a:t>Challenge</a:t>
            </a:r>
            <a:endParaRPr lang="en-US" dirty="0"/>
          </a:p>
          <a:p>
            <a:pPr lvl="1"/>
            <a:r>
              <a:rPr lang="en-US" dirty="0"/>
              <a:t>Runner failed to start with:</a:t>
            </a:r>
          </a:p>
          <a:p>
            <a:pPr lvl="2"/>
            <a:r>
              <a:rPr lang="en-US" dirty="0"/>
              <a:t>files cannot contain NULL bytes; probably using UTF-16</a:t>
            </a:r>
          </a:p>
          <a:p>
            <a:r>
              <a:rPr lang="en-US" b="1" dirty="0"/>
              <a:t>Root Cause</a:t>
            </a:r>
            <a:endParaRPr lang="en-US" dirty="0"/>
          </a:p>
          <a:p>
            <a:pPr lvl="1"/>
            <a:r>
              <a:rPr lang="en-US" dirty="0"/>
              <a:t>Editing </a:t>
            </a:r>
            <a:r>
              <a:rPr lang="en-US" dirty="0" err="1"/>
              <a:t>config.toml</a:t>
            </a:r>
            <a:r>
              <a:rPr lang="en-US" dirty="0"/>
              <a:t> on Windows introduced UTF-16 encoding.</a:t>
            </a:r>
          </a:p>
          <a:p>
            <a:pPr lvl="1"/>
            <a:r>
              <a:rPr lang="en-US" dirty="0"/>
              <a:t>GitLab Runner requires UTF-8.</a:t>
            </a:r>
          </a:p>
          <a:p>
            <a:r>
              <a:rPr lang="en-US" b="1" dirty="0"/>
              <a:t>Resolution</a:t>
            </a:r>
            <a:endParaRPr lang="en-US" dirty="0"/>
          </a:p>
          <a:p>
            <a:pPr lvl="1"/>
            <a:r>
              <a:rPr lang="en-US" dirty="0"/>
              <a:t>Recreated </a:t>
            </a:r>
            <a:r>
              <a:rPr lang="en-US" dirty="0" err="1"/>
              <a:t>config.toml</a:t>
            </a:r>
            <a:r>
              <a:rPr lang="en-US" dirty="0"/>
              <a:t> </a:t>
            </a:r>
            <a:r>
              <a:rPr lang="en-US" b="1" dirty="0"/>
              <a:t>inside the container</a:t>
            </a:r>
            <a:r>
              <a:rPr lang="en-US" dirty="0"/>
              <a:t> using shell heredocs.</a:t>
            </a:r>
          </a:p>
          <a:p>
            <a:pPr lvl="1"/>
            <a:r>
              <a:rPr lang="en-US" dirty="0"/>
              <a:t>Avoided Windows editors for runner config.</a:t>
            </a:r>
          </a:p>
          <a:p>
            <a:r>
              <a:rPr lang="en-US" b="1" dirty="0"/>
              <a:t>Lesson</a:t>
            </a:r>
            <a:endParaRPr lang="en-US" dirty="0"/>
          </a:p>
          <a:p>
            <a:pPr lvl="1"/>
            <a:r>
              <a:rPr lang="en-US" dirty="0"/>
              <a:t>Cross-platform file encoding can break infrastructure tooling.</a:t>
            </a:r>
          </a:p>
          <a:p>
            <a:pPr lvl="1"/>
            <a:r>
              <a:rPr lang="en-US" dirty="0"/>
              <a:t>Always control encoding for config files.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507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A45BB-49EB-0116-8062-A20798ED8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F108-7919-A444-84F2-C0EC0FFD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94"/>
            <a:ext cx="12339484" cy="55910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Challenges - </a:t>
            </a:r>
            <a:r>
              <a:rPr lang="en-US" b="1" dirty="0"/>
              <a:t>Real-World Engineering Experience . . 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5FBBE-0DA3-D74E-724F-3F1C9D7EA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7"/>
            <a:ext cx="10515600" cy="55673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Artifact &amp; Image Freshness Confusion</a:t>
            </a:r>
          </a:p>
          <a:p>
            <a:r>
              <a:rPr lang="en-US" b="1" dirty="0"/>
              <a:t>Challenge</a:t>
            </a:r>
            <a:endParaRPr lang="en-US" dirty="0"/>
          </a:p>
          <a:p>
            <a:pPr lvl="1"/>
            <a:r>
              <a:rPr lang="en-US" dirty="0"/>
              <a:t>Pipeline succeeded, but browser still showed </a:t>
            </a:r>
            <a:r>
              <a:rPr lang="en-US" b="1" dirty="0"/>
              <a:t>old controller output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Docker Desktop was running an outdated container.</a:t>
            </a:r>
          </a:p>
          <a:p>
            <a:r>
              <a:rPr lang="en-US" b="1" dirty="0"/>
              <a:t>Root Cause</a:t>
            </a:r>
            <a:endParaRPr lang="en-US" dirty="0"/>
          </a:p>
          <a:p>
            <a:pPr lvl="1"/>
            <a:r>
              <a:rPr lang="en-US" dirty="0"/>
              <a:t>CI pushed a new image, but local runtime still used an old container.</a:t>
            </a:r>
          </a:p>
          <a:p>
            <a:pPr lvl="1"/>
            <a:r>
              <a:rPr lang="en-US" dirty="0"/>
              <a:t>latest tag was not pulled automatically.</a:t>
            </a:r>
          </a:p>
          <a:p>
            <a:r>
              <a:rPr lang="en-US" b="1" dirty="0"/>
              <a:t>Resolution</a:t>
            </a:r>
            <a:endParaRPr lang="en-US" dirty="0"/>
          </a:p>
          <a:p>
            <a:pPr lvl="1"/>
            <a:r>
              <a:rPr lang="en-US" dirty="0"/>
              <a:t>Manually:</a:t>
            </a:r>
          </a:p>
          <a:p>
            <a:pPr lvl="2"/>
            <a:r>
              <a:rPr lang="en-US" dirty="0"/>
              <a:t>docker pull &lt;repo&gt;/&lt;image&gt;:latest</a:t>
            </a:r>
          </a:p>
          <a:p>
            <a:pPr lvl="2"/>
            <a:r>
              <a:rPr lang="en-US" dirty="0"/>
              <a:t>docker stop &lt;old-container&gt;</a:t>
            </a:r>
          </a:p>
          <a:p>
            <a:pPr lvl="2"/>
            <a:r>
              <a:rPr lang="en-US" dirty="0"/>
              <a:t>docker run -p 8080:8080 &lt;repo&gt;/&lt;image&gt;:latest</a:t>
            </a:r>
          </a:p>
          <a:p>
            <a:r>
              <a:rPr lang="en-US" b="1" dirty="0"/>
              <a:t>Lesson</a:t>
            </a:r>
            <a:endParaRPr lang="en-US" dirty="0"/>
          </a:p>
          <a:p>
            <a:pPr lvl="1"/>
            <a:r>
              <a:rPr lang="en-US" dirty="0"/>
              <a:t>CI success ≠ runtime deployment.</a:t>
            </a:r>
          </a:p>
          <a:p>
            <a:pPr lvl="1"/>
            <a:r>
              <a:rPr lang="en-US" dirty="0"/>
              <a:t>Explicit pull &amp; redeploy is required unless automated.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12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17E9-C576-0D00-B8FA-5C8FE17AC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AC62-B59C-A826-F815-19DB91DA6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827" y="60328"/>
            <a:ext cx="12300155" cy="50994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Challenges - </a:t>
            </a:r>
            <a:r>
              <a:rPr lang="en-US" b="1" dirty="0"/>
              <a:t>Real-World Engineering Experience . . 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F0F75-12F8-0B24-DCE0-19279ACC1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5409"/>
            <a:ext cx="10515600" cy="56066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Debugging CI Requires Multi-Layer Visibility</a:t>
            </a:r>
          </a:p>
          <a:p>
            <a:r>
              <a:rPr lang="en-US" b="1" dirty="0"/>
              <a:t>Challenge</a:t>
            </a:r>
            <a:endParaRPr lang="en-US" dirty="0"/>
          </a:p>
          <a:p>
            <a:pPr lvl="1"/>
            <a:r>
              <a:rPr lang="en-US" dirty="0"/>
              <a:t>Failures occurred across:</a:t>
            </a:r>
          </a:p>
          <a:p>
            <a:pPr lvl="2"/>
            <a:r>
              <a:rPr lang="en-US" dirty="0"/>
              <a:t>GitLab UI</a:t>
            </a:r>
          </a:p>
          <a:p>
            <a:pPr lvl="2"/>
            <a:r>
              <a:rPr lang="en-US" dirty="0"/>
              <a:t>Runner logs</a:t>
            </a:r>
          </a:p>
          <a:p>
            <a:pPr lvl="2"/>
            <a:r>
              <a:rPr lang="en-US" dirty="0"/>
              <a:t>Job logs</a:t>
            </a:r>
          </a:p>
          <a:p>
            <a:pPr lvl="2"/>
            <a:r>
              <a:rPr lang="en-US" dirty="0"/>
              <a:t>Docker daemon logs</a:t>
            </a:r>
          </a:p>
          <a:p>
            <a:r>
              <a:rPr lang="en-US" b="1" dirty="0"/>
              <a:t>Resolution</a:t>
            </a:r>
            <a:endParaRPr lang="en-US" dirty="0"/>
          </a:p>
          <a:p>
            <a:pPr lvl="1"/>
            <a:r>
              <a:rPr lang="en-US" dirty="0"/>
              <a:t>Used:</a:t>
            </a:r>
          </a:p>
          <a:p>
            <a:pPr lvl="2"/>
            <a:r>
              <a:rPr lang="en-US" dirty="0"/>
              <a:t>docker logs </a:t>
            </a:r>
            <a:r>
              <a:rPr lang="en-US" dirty="0" err="1"/>
              <a:t>gitlab</a:t>
            </a:r>
            <a:r>
              <a:rPr lang="en-US" dirty="0"/>
              <a:t>-runner</a:t>
            </a:r>
          </a:p>
          <a:p>
            <a:pPr lvl="2"/>
            <a:r>
              <a:rPr lang="en-US" dirty="0"/>
              <a:t>Job log inspection</a:t>
            </a:r>
          </a:p>
          <a:p>
            <a:pPr lvl="2"/>
            <a:r>
              <a:rPr lang="en-US" dirty="0"/>
              <a:t>Temporary debug steps (env, docker version)</a:t>
            </a:r>
          </a:p>
          <a:p>
            <a:pPr lvl="1"/>
            <a:r>
              <a:rPr lang="en-US" dirty="0"/>
              <a:t>Incrementally isolated each failure.</a:t>
            </a:r>
          </a:p>
          <a:p>
            <a:r>
              <a:rPr lang="en-US" b="1" dirty="0"/>
              <a:t>Lesson</a:t>
            </a:r>
            <a:endParaRPr lang="en-US" dirty="0"/>
          </a:p>
          <a:p>
            <a:pPr lvl="1"/>
            <a:r>
              <a:rPr lang="en-US" dirty="0"/>
              <a:t>CI/CD debugging is </a:t>
            </a:r>
            <a:r>
              <a:rPr lang="en-US" b="1" dirty="0"/>
              <a:t>systems debugging</a:t>
            </a:r>
            <a:r>
              <a:rPr lang="en-US" dirty="0"/>
              <a:t>, not just code debugging.</a:t>
            </a:r>
          </a:p>
          <a:p>
            <a:pPr lvl="1"/>
            <a:r>
              <a:rPr lang="en-US" dirty="0"/>
              <a:t>Observability is essential.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82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7029-C627-A760-3840-D9476E70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5B049-E065-522E-2A21-C13767608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91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Alternate Architectures and Tools 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E0FFE-C736-9EDE-8051-C0F137578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729"/>
            <a:ext cx="10515600" cy="545920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Use GitLab Shared Runners + GitLab Container Registry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dirty="0"/>
              <a:t>Use GitLab’s hosted shared runners to run CI jobs and push images to </a:t>
            </a:r>
            <a:r>
              <a:rPr lang="en-US" b="1" dirty="0"/>
              <a:t>GitLab Container Registry</a:t>
            </a:r>
            <a:r>
              <a:rPr lang="en-US" dirty="0"/>
              <a:t> (instead of Docker Hub). Minimal infra to manage.</a:t>
            </a:r>
          </a:p>
          <a:p>
            <a:r>
              <a:rPr lang="en-US" b="1" dirty="0"/>
              <a:t>Tools / Tech</a:t>
            </a:r>
            <a:endParaRPr lang="en-US" dirty="0"/>
          </a:p>
          <a:p>
            <a:pPr lvl="1"/>
            <a:r>
              <a:rPr lang="en-US" dirty="0"/>
              <a:t>GitLab.com shared runners (SaaS)</a:t>
            </a:r>
          </a:p>
          <a:p>
            <a:pPr lvl="1"/>
            <a:r>
              <a:rPr lang="en-US" dirty="0"/>
              <a:t>GitLab Container Registry (built-in)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gitlab-ci.yml</a:t>
            </a:r>
            <a:r>
              <a:rPr lang="en-US" dirty="0"/>
              <a:t> (similar pipeline)</a:t>
            </a:r>
          </a:p>
          <a:p>
            <a:pPr lvl="1"/>
            <a:r>
              <a:rPr lang="en-US" dirty="0"/>
              <a:t>GitLab CI variables for auth (if external registry)</a:t>
            </a:r>
          </a:p>
          <a:p>
            <a:r>
              <a:rPr lang="en-US" b="1" dirty="0"/>
              <a:t>Who benefits &amp; why</a:t>
            </a:r>
            <a:endParaRPr lang="en-US" dirty="0"/>
          </a:p>
          <a:p>
            <a:pPr lvl="1"/>
            <a:r>
              <a:rPr lang="en-US" b="1" dirty="0"/>
              <a:t>Developer:</a:t>
            </a:r>
            <a:r>
              <a:rPr lang="en-US" dirty="0"/>
              <a:t> Easiest onboarding — no runner maintenance; fast to start.</a:t>
            </a:r>
          </a:p>
          <a:p>
            <a:pPr lvl="1"/>
            <a:r>
              <a:rPr lang="en-US" b="1" dirty="0"/>
              <a:t>SRE/Ops:</a:t>
            </a:r>
            <a:r>
              <a:rPr lang="en-US" dirty="0"/>
              <a:t> Low operational overhead; GitLab manages runner pool.</a:t>
            </a:r>
          </a:p>
          <a:p>
            <a:pPr lvl="1"/>
            <a:r>
              <a:rPr lang="en-US" b="1" dirty="0"/>
              <a:t>Security:</a:t>
            </a:r>
            <a:r>
              <a:rPr lang="en-US" dirty="0"/>
              <a:t> Registry integrated with project; simpler RBAC.</a:t>
            </a:r>
          </a:p>
          <a:p>
            <a:pPr lvl="1"/>
            <a:r>
              <a:rPr lang="en-US" b="1" dirty="0"/>
              <a:t>Product/Management:</a:t>
            </a:r>
            <a:r>
              <a:rPr lang="en-US" dirty="0"/>
              <a:t> Lower cost of maintenance; quicker velocity.</a:t>
            </a:r>
          </a:p>
          <a:p>
            <a:r>
              <a:rPr lang="en-US" b="1" dirty="0"/>
              <a:t>Trade-offs</a:t>
            </a:r>
            <a:endParaRPr lang="en-US" dirty="0"/>
          </a:p>
          <a:p>
            <a:pPr lvl="1"/>
            <a:r>
              <a:rPr lang="en-US" dirty="0"/>
              <a:t>Less control over runner environment; concurrency and quota limits on free tiers.</a:t>
            </a:r>
          </a:p>
          <a:p>
            <a:pPr lvl="1"/>
            <a:r>
              <a:rPr lang="en-US" dirty="0"/>
              <a:t>Potential privacy/compliance concerns (code/images stored on GitLab).</a:t>
            </a:r>
          </a:p>
          <a:p>
            <a:pPr lvl="1"/>
            <a:r>
              <a:rPr lang="en-US" dirty="0"/>
              <a:t>Slightly less flexibility for custom tooling on the runner.</a:t>
            </a:r>
          </a:p>
          <a:p>
            <a:r>
              <a:rPr lang="en-US" b="1" dirty="0"/>
              <a:t>When to pick</a:t>
            </a:r>
            <a:endParaRPr lang="en-US" dirty="0"/>
          </a:p>
          <a:p>
            <a:pPr lvl="1"/>
            <a:r>
              <a:rPr lang="en-US" dirty="0"/>
              <a:t>Small teams, demos, prototypes, or when you want minimal infra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211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1C21-DBF4-6046-F57E-9A2DB24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0A2C2-2BF6-1FCF-0684-774C89455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48"/>
            <a:ext cx="10515600" cy="571484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GitLab Runner on Kubernetes (K8s Runner with Autoscaling)</a:t>
            </a:r>
          </a:p>
          <a:p>
            <a:endParaRPr lang="en-US" dirty="0"/>
          </a:p>
          <a:p>
            <a:r>
              <a:rPr lang="en-US" dirty="0"/>
              <a:t>Deploy GitLab Runner(s) into a Kubernetes cluster using the Kubernetes executor. Jobs run in ephemeral pods; use image build tools like </a:t>
            </a:r>
            <a:r>
              <a:rPr lang="en-US" b="1" dirty="0" err="1"/>
              <a:t>kaniko</a:t>
            </a:r>
            <a:r>
              <a:rPr lang="en-US" dirty="0"/>
              <a:t>, </a:t>
            </a:r>
            <a:r>
              <a:rPr lang="en-US" b="1" dirty="0" err="1"/>
              <a:t>BuildKit</a:t>
            </a:r>
            <a:r>
              <a:rPr lang="en-US" dirty="0"/>
              <a:t>, or </a:t>
            </a:r>
            <a:r>
              <a:rPr lang="en-US" b="1" dirty="0" err="1"/>
              <a:t>kaniko</a:t>
            </a:r>
            <a:r>
              <a:rPr lang="en-US" b="1" dirty="0"/>
              <a:t> + sidecar</a:t>
            </a:r>
            <a:r>
              <a:rPr lang="en-US" dirty="0"/>
              <a:t> to build images and push to a registry (GitLab Container Registry / Docker Hub / ECR).</a:t>
            </a:r>
          </a:p>
          <a:p>
            <a:r>
              <a:rPr lang="en-US" b="1" dirty="0"/>
              <a:t>Tools / Tech</a:t>
            </a:r>
            <a:endParaRPr lang="en-US" dirty="0"/>
          </a:p>
          <a:p>
            <a:pPr lvl="1"/>
            <a:r>
              <a:rPr lang="en-US" dirty="0"/>
              <a:t>Kubernetes cluster (GKE / EKS / AKS / on-prem)</a:t>
            </a:r>
          </a:p>
          <a:p>
            <a:pPr lvl="1"/>
            <a:r>
              <a:rPr lang="en-US" dirty="0" err="1"/>
              <a:t>gitlab</a:t>
            </a:r>
            <a:r>
              <a:rPr lang="en-US" dirty="0"/>
              <a:t>-runner Helm chart (Kubernetes executor)</a:t>
            </a:r>
          </a:p>
          <a:p>
            <a:pPr lvl="1"/>
            <a:r>
              <a:rPr lang="en-US" dirty="0" err="1"/>
              <a:t>kaniko</a:t>
            </a:r>
            <a:r>
              <a:rPr lang="en-US" dirty="0"/>
              <a:t> / </a:t>
            </a:r>
            <a:r>
              <a:rPr lang="en-US" dirty="0" err="1"/>
              <a:t>buildkit</a:t>
            </a:r>
            <a:r>
              <a:rPr lang="en-US" dirty="0"/>
              <a:t> / </a:t>
            </a:r>
            <a:r>
              <a:rPr lang="en-US" dirty="0" err="1"/>
              <a:t>img</a:t>
            </a:r>
            <a:r>
              <a:rPr lang="en-US" dirty="0"/>
              <a:t> / docker-</a:t>
            </a:r>
            <a:r>
              <a:rPr lang="en-US" dirty="0" err="1"/>
              <a:t>buildx</a:t>
            </a:r>
            <a:r>
              <a:rPr lang="en-US" dirty="0"/>
              <a:t> action for building images</a:t>
            </a:r>
          </a:p>
          <a:p>
            <a:pPr lvl="1"/>
            <a:r>
              <a:rPr lang="en-US" dirty="0"/>
              <a:t>CI config uses </a:t>
            </a:r>
            <a:r>
              <a:rPr lang="en-US" dirty="0" err="1"/>
              <a:t>kubernetes</a:t>
            </a:r>
            <a:r>
              <a:rPr lang="en-US" dirty="0"/>
              <a:t> executor and service accounts</a:t>
            </a:r>
          </a:p>
          <a:p>
            <a:pPr lvl="1"/>
            <a:r>
              <a:rPr lang="en-US" dirty="0"/>
              <a:t>Container registry (GitLab/ECR/GCR/Artifactory)</a:t>
            </a:r>
          </a:p>
          <a:p>
            <a:r>
              <a:rPr lang="en-US" b="1" dirty="0"/>
              <a:t>Who benefits &amp; why</a:t>
            </a:r>
            <a:endParaRPr lang="en-US" dirty="0"/>
          </a:p>
          <a:p>
            <a:pPr lvl="1"/>
            <a:r>
              <a:rPr lang="en-US" b="1" dirty="0"/>
              <a:t>Developer:</a:t>
            </a:r>
            <a:r>
              <a:rPr lang="en-US" dirty="0"/>
              <a:t> Reproducible build environment; consistent with production K8s.</a:t>
            </a:r>
          </a:p>
          <a:p>
            <a:pPr lvl="1"/>
            <a:r>
              <a:rPr lang="en-US" b="1" dirty="0"/>
              <a:t>SRE/Ops:</a:t>
            </a:r>
            <a:r>
              <a:rPr lang="en-US" dirty="0"/>
              <a:t> Scalability, autoscaling runners, RBAC, namespace isolation.</a:t>
            </a:r>
          </a:p>
          <a:p>
            <a:pPr lvl="1"/>
            <a:r>
              <a:rPr lang="en-US" b="1" dirty="0"/>
              <a:t>Security:</a:t>
            </a:r>
            <a:r>
              <a:rPr lang="en-US" dirty="0"/>
              <a:t> Avoid privileged </a:t>
            </a:r>
            <a:r>
              <a:rPr lang="en-US" dirty="0" err="1"/>
              <a:t>DinD</a:t>
            </a:r>
            <a:r>
              <a:rPr lang="en-US" dirty="0"/>
              <a:t>; use Kubernetes RBAC, </a:t>
            </a:r>
            <a:r>
              <a:rPr lang="en-US" dirty="0" err="1"/>
              <a:t>PodSecurityPolicy</a:t>
            </a:r>
            <a:r>
              <a:rPr lang="en-US" dirty="0"/>
              <a:t>, and separate build service account.</a:t>
            </a:r>
          </a:p>
          <a:p>
            <a:pPr lvl="1"/>
            <a:r>
              <a:rPr lang="en-US" b="1" dirty="0"/>
              <a:t>QA/Product:</a:t>
            </a:r>
            <a:r>
              <a:rPr lang="en-US" dirty="0"/>
              <a:t> Easier to deploy to staging clusters using the same platform.</a:t>
            </a:r>
          </a:p>
          <a:p>
            <a:r>
              <a:rPr lang="en-US" b="1" dirty="0"/>
              <a:t>Trade-offs</a:t>
            </a:r>
            <a:endParaRPr lang="en-US" dirty="0"/>
          </a:p>
          <a:p>
            <a:pPr lvl="1"/>
            <a:r>
              <a:rPr lang="en-US" dirty="0"/>
              <a:t>More operational complexity: cluster management, Helm charts, networking.</a:t>
            </a:r>
          </a:p>
          <a:p>
            <a:pPr lvl="1"/>
            <a:r>
              <a:rPr lang="en-US" dirty="0"/>
              <a:t>Needs expertise in Kubernetes.</a:t>
            </a:r>
          </a:p>
          <a:p>
            <a:pPr lvl="1"/>
            <a:r>
              <a:rPr lang="en-US" dirty="0"/>
              <a:t>Slight startup time for pods compared to shared runners.</a:t>
            </a:r>
          </a:p>
          <a:p>
            <a:r>
              <a:rPr lang="en-US" b="1" dirty="0"/>
              <a:t>When to pick</a:t>
            </a:r>
            <a:endParaRPr lang="en-US" dirty="0"/>
          </a:p>
          <a:p>
            <a:pPr lvl="1"/>
            <a:r>
              <a:rPr lang="en-US" dirty="0"/>
              <a:t>Teams already running K8s or planning to deploy to K8s. When you care about isolation, scalability, and security.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578169-B367-60EC-1AE1-1F407F77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4902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Alternate Architectures and Tools . . .</a:t>
            </a:r>
          </a:p>
        </p:txBody>
      </p:sp>
    </p:spTree>
    <p:extLst>
      <p:ext uri="{BB962C8B-B14F-4D97-AF65-F5344CB8AC3E}">
        <p14:creationId xmlns:p14="http://schemas.microsoft.com/office/powerpoint/2010/main" val="194153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09F6-849D-7579-1603-CDBE4954E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A923-822C-B283-C290-2C1F7292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95"/>
            <a:ext cx="10515600" cy="441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Alternate Architectures and Tools 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47332-ADE5-9C25-201F-5C56FF06B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072"/>
            <a:ext cx="10515600" cy="586986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Use Dedicated Cloud CI Services for Builds (Cloud Build / GitHub Actions / Azure Pipelines)</a:t>
            </a:r>
          </a:p>
          <a:p>
            <a:endParaRPr lang="en-US" dirty="0"/>
          </a:p>
          <a:p>
            <a:r>
              <a:rPr lang="en-US" dirty="0"/>
              <a:t>Use a managed CI/CD provider specialized in builds (Google Cloud Build, GitHub Actions, Azure Pipelines) to build and push images, optionally integrated with GitLab via webhooks. Use their native build tooling (</a:t>
            </a:r>
            <a:r>
              <a:rPr lang="en-US" dirty="0" err="1"/>
              <a:t>Buildpacks</a:t>
            </a:r>
            <a:r>
              <a:rPr lang="en-US" dirty="0"/>
              <a:t>, </a:t>
            </a:r>
            <a:r>
              <a:rPr lang="en-US" dirty="0" err="1"/>
              <a:t>Kaniko</a:t>
            </a:r>
            <a:r>
              <a:rPr lang="en-US" dirty="0"/>
              <a:t>, </a:t>
            </a:r>
            <a:r>
              <a:rPr lang="en-US" dirty="0" err="1"/>
              <a:t>BuildKit</a:t>
            </a:r>
            <a:r>
              <a:rPr lang="en-US" dirty="0"/>
              <a:t>, or Cloud Build steps).</a:t>
            </a:r>
          </a:p>
          <a:p>
            <a:r>
              <a:rPr lang="en-US" b="1" dirty="0"/>
              <a:t>Tools / Tech</a:t>
            </a:r>
            <a:endParaRPr lang="en-US" dirty="0"/>
          </a:p>
          <a:p>
            <a:pPr lvl="1"/>
            <a:r>
              <a:rPr lang="en-US" dirty="0"/>
              <a:t>Cloud Build (GCP) or GitHub Actions / Azure Pipelines</a:t>
            </a:r>
          </a:p>
          <a:p>
            <a:pPr lvl="1"/>
            <a:r>
              <a:rPr lang="en-US" dirty="0"/>
              <a:t>Registry: GCR / GHCR / ACR / Docker Hub</a:t>
            </a:r>
          </a:p>
          <a:p>
            <a:pPr lvl="1"/>
            <a:r>
              <a:rPr lang="en-US" dirty="0"/>
              <a:t>Webhook integration from GitLab to trigger builds (or mirror repo to GitHub)</a:t>
            </a:r>
          </a:p>
          <a:p>
            <a:r>
              <a:rPr lang="en-US" b="1" dirty="0"/>
              <a:t>Who benefits &amp; why</a:t>
            </a:r>
            <a:endParaRPr lang="en-US" dirty="0"/>
          </a:p>
          <a:p>
            <a:pPr lvl="1"/>
            <a:r>
              <a:rPr lang="en-US" b="1" dirty="0"/>
              <a:t>Developer:</a:t>
            </a:r>
            <a:r>
              <a:rPr lang="en-US" dirty="0"/>
              <a:t> Highly managed pipelines, fast provisioning, built-in caching and integrations.</a:t>
            </a:r>
          </a:p>
          <a:p>
            <a:pPr lvl="1"/>
            <a:r>
              <a:rPr lang="en-US" b="1" dirty="0"/>
              <a:t>SRE/Ops:</a:t>
            </a:r>
            <a:r>
              <a:rPr lang="en-US" dirty="0"/>
              <a:t> Offload resource management; easy audit logs.</a:t>
            </a:r>
          </a:p>
          <a:p>
            <a:pPr lvl="1"/>
            <a:r>
              <a:rPr lang="en-US" b="1" dirty="0"/>
              <a:t>Security:</a:t>
            </a:r>
            <a:r>
              <a:rPr lang="en-US" dirty="0"/>
              <a:t> Managed service with hardened environment; easy to integrate scanning.</a:t>
            </a:r>
          </a:p>
          <a:p>
            <a:pPr lvl="1"/>
            <a:r>
              <a:rPr lang="en-US" b="1" dirty="0"/>
              <a:t>Management:</a:t>
            </a:r>
            <a:r>
              <a:rPr lang="en-US" dirty="0"/>
              <a:t> Predictable costs and SLAs.</a:t>
            </a:r>
          </a:p>
          <a:p>
            <a:r>
              <a:rPr lang="en-US" b="1" dirty="0"/>
              <a:t>Trade-offs</a:t>
            </a:r>
            <a:endParaRPr lang="en-US" dirty="0"/>
          </a:p>
          <a:p>
            <a:pPr lvl="1"/>
            <a:r>
              <a:rPr lang="en-US" dirty="0"/>
              <a:t>Requires cross-system integration if primary repo is on GitLab.</a:t>
            </a:r>
          </a:p>
          <a:p>
            <a:pPr lvl="1"/>
            <a:r>
              <a:rPr lang="en-US" dirty="0"/>
              <a:t>Data residency and compliance considerations.</a:t>
            </a:r>
          </a:p>
          <a:p>
            <a:pPr lvl="1"/>
            <a:r>
              <a:rPr lang="en-US" dirty="0"/>
              <a:t>Potentially more expensive depending on usage.</a:t>
            </a:r>
          </a:p>
          <a:p>
            <a:r>
              <a:rPr lang="en-US" b="1" dirty="0"/>
              <a:t>When to pick</a:t>
            </a:r>
            <a:endParaRPr lang="en-US" dirty="0"/>
          </a:p>
          <a:p>
            <a:pPr lvl="1"/>
            <a:r>
              <a:rPr lang="en-US" dirty="0"/>
              <a:t>When you prefer managed build infrastructure or want native cloud integrations (e.g., push to GCR + deploy to GKE).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979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7B79E-8444-74B4-8843-67762B30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4AD2D-26A9-E47E-21AB-C14EE4A22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57"/>
            <a:ext cx="10515600" cy="4607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Alternate Architectures and Tools 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4A705-9800-29F3-399B-03AEBA19E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420"/>
            <a:ext cx="10515600" cy="608617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Use Docker-in-Docker (</a:t>
            </a:r>
            <a:r>
              <a:rPr lang="en-US" dirty="0" err="1"/>
              <a:t>DinD</a:t>
            </a:r>
            <a:r>
              <a:rPr lang="en-US" dirty="0"/>
              <a:t>) with Secure Runner on Linux VMs</a:t>
            </a:r>
          </a:p>
          <a:p>
            <a:endParaRPr lang="en-US" dirty="0"/>
          </a:p>
          <a:p>
            <a:r>
              <a:rPr lang="en-US" dirty="0"/>
              <a:t>Use private runners on Linux VMs configured with --privileged to run </a:t>
            </a:r>
            <a:r>
              <a:rPr lang="en-US" dirty="0" err="1"/>
              <a:t>DinD</a:t>
            </a:r>
            <a:r>
              <a:rPr lang="en-US" dirty="0"/>
              <a:t> services reliably. Use </a:t>
            </a:r>
            <a:r>
              <a:rPr lang="en-US" dirty="0" err="1"/>
              <a:t>DinD</a:t>
            </a:r>
            <a:r>
              <a:rPr lang="en-US" dirty="0"/>
              <a:t> when you need isolated build daemons per job.</a:t>
            </a:r>
          </a:p>
          <a:p>
            <a:r>
              <a:rPr lang="en-US" b="1" dirty="0"/>
              <a:t>Tools / Tech</a:t>
            </a:r>
            <a:endParaRPr lang="en-US" dirty="0"/>
          </a:p>
          <a:p>
            <a:pPr lvl="1"/>
            <a:r>
              <a:rPr lang="en-US" dirty="0"/>
              <a:t>Linux VM(s) (cloud or on-prem)</a:t>
            </a:r>
          </a:p>
          <a:p>
            <a:pPr lvl="1"/>
            <a:r>
              <a:rPr lang="en-US" dirty="0"/>
              <a:t>GitLab Runner using Docker executor with services: </a:t>
            </a:r>
            <a:r>
              <a:rPr lang="en-US" dirty="0" err="1"/>
              <a:t>docker:dind</a:t>
            </a:r>
            <a:endParaRPr lang="en-US" dirty="0"/>
          </a:p>
          <a:p>
            <a:pPr lvl="1"/>
            <a:r>
              <a:rPr lang="en-US" dirty="0"/>
              <a:t>Runner config privileged = true</a:t>
            </a:r>
          </a:p>
          <a:p>
            <a:pPr lvl="1"/>
            <a:r>
              <a:rPr lang="en-US" dirty="0"/>
              <a:t>Image building via docker CLI inside job</a:t>
            </a:r>
          </a:p>
          <a:p>
            <a:r>
              <a:rPr lang="en-US" b="1" dirty="0"/>
              <a:t>Who benefits &amp; why</a:t>
            </a:r>
            <a:endParaRPr lang="en-US" dirty="0"/>
          </a:p>
          <a:p>
            <a:pPr lvl="1"/>
            <a:r>
              <a:rPr lang="en-US" b="1" dirty="0"/>
              <a:t>Dev:</a:t>
            </a:r>
            <a:r>
              <a:rPr lang="en-US" dirty="0"/>
              <a:t> High parity with traditional Docker workflows.</a:t>
            </a:r>
          </a:p>
          <a:p>
            <a:pPr lvl="1"/>
            <a:r>
              <a:rPr lang="en-US" b="1" dirty="0"/>
              <a:t>SRE/Ops:</a:t>
            </a:r>
            <a:r>
              <a:rPr lang="en-US" dirty="0"/>
              <a:t> Full control over runner environment.</a:t>
            </a:r>
          </a:p>
          <a:p>
            <a:pPr lvl="1"/>
            <a:r>
              <a:rPr lang="en-US" b="1" dirty="0"/>
              <a:t>Security:</a:t>
            </a:r>
            <a:r>
              <a:rPr lang="en-US" dirty="0"/>
              <a:t> Needs careful isolation (privileged containers); use VMs per runner if needed.</a:t>
            </a:r>
          </a:p>
          <a:p>
            <a:pPr lvl="1"/>
            <a:r>
              <a:rPr lang="en-US" b="1" dirty="0"/>
              <a:t>QA/Product:</a:t>
            </a:r>
            <a:r>
              <a:rPr lang="en-US" dirty="0"/>
              <a:t> Suitable if image building must be isolated per job.</a:t>
            </a:r>
          </a:p>
          <a:p>
            <a:r>
              <a:rPr lang="en-US" b="1" dirty="0"/>
              <a:t>Trade-offs</a:t>
            </a:r>
            <a:endParaRPr lang="en-US" dirty="0"/>
          </a:p>
          <a:p>
            <a:pPr lvl="1"/>
            <a:r>
              <a:rPr lang="en-US" dirty="0"/>
              <a:t>Privileged mode is a security risk on shared hosts.</a:t>
            </a:r>
          </a:p>
          <a:p>
            <a:pPr lvl="1"/>
            <a:r>
              <a:rPr lang="en-US" dirty="0"/>
              <a:t>More resource usage (</a:t>
            </a:r>
            <a:r>
              <a:rPr lang="en-US" dirty="0" err="1"/>
              <a:t>DinD</a:t>
            </a:r>
            <a:r>
              <a:rPr lang="en-US" dirty="0"/>
              <a:t> overhead) and more complex networking.</a:t>
            </a:r>
          </a:p>
          <a:p>
            <a:pPr lvl="1"/>
            <a:r>
              <a:rPr lang="en-US" dirty="0"/>
              <a:t>Not recommended on Docker Desktop (Windows) due to fragility.</a:t>
            </a:r>
          </a:p>
          <a:p>
            <a:r>
              <a:rPr lang="en-US" b="1" dirty="0"/>
              <a:t>When to pick</a:t>
            </a:r>
            <a:endParaRPr lang="en-US" dirty="0"/>
          </a:p>
          <a:p>
            <a:pPr lvl="1"/>
            <a:r>
              <a:rPr lang="en-US" dirty="0"/>
              <a:t>When you need </a:t>
            </a:r>
            <a:r>
              <a:rPr lang="en-US" dirty="0" err="1"/>
              <a:t>DinD</a:t>
            </a:r>
            <a:r>
              <a:rPr lang="en-US" dirty="0"/>
              <a:t> features and can run on Linux VMs with controlled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94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6E10-6884-D55B-DD56-C6ED92F69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C7D6-53FD-3862-44DD-90D566F34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96"/>
            <a:ext cx="10515600" cy="4411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Alternate Architectures and Tools 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035E2-F6CD-D2A0-83FA-D61BF4280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249"/>
            <a:ext cx="10515600" cy="568534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Use </a:t>
            </a:r>
            <a:r>
              <a:rPr lang="en-US" dirty="0" err="1"/>
              <a:t>BuildKit</a:t>
            </a:r>
            <a:r>
              <a:rPr lang="en-US" dirty="0"/>
              <a:t> / docker </a:t>
            </a:r>
            <a:r>
              <a:rPr lang="en-US" dirty="0" err="1"/>
              <a:t>buildx</a:t>
            </a:r>
            <a:r>
              <a:rPr lang="en-US" dirty="0"/>
              <a:t> / </a:t>
            </a:r>
            <a:r>
              <a:rPr lang="en-US" dirty="0" err="1"/>
              <a:t>Kaniko</a:t>
            </a:r>
            <a:r>
              <a:rPr lang="en-US" dirty="0"/>
              <a:t> for Unprivileged Image Builds</a:t>
            </a:r>
          </a:p>
          <a:p>
            <a:endParaRPr lang="en-US" dirty="0"/>
          </a:p>
          <a:p>
            <a:r>
              <a:rPr lang="en-US" dirty="0"/>
              <a:t>Build images without requiring a privileged daemon or host socket. Use </a:t>
            </a:r>
            <a:r>
              <a:rPr lang="en-US" dirty="0" err="1"/>
              <a:t>Kaniko</a:t>
            </a:r>
            <a:r>
              <a:rPr lang="en-US" dirty="0"/>
              <a:t> or </a:t>
            </a:r>
            <a:r>
              <a:rPr lang="en-US" dirty="0" err="1"/>
              <a:t>BuildKit</a:t>
            </a:r>
            <a:r>
              <a:rPr lang="en-US" dirty="0"/>
              <a:t>/</a:t>
            </a:r>
            <a:r>
              <a:rPr lang="en-US" dirty="0" err="1"/>
              <a:t>Buildx</a:t>
            </a:r>
            <a:r>
              <a:rPr lang="en-US" dirty="0"/>
              <a:t> to produce images from within unprivileged containers or Kubernetes.</a:t>
            </a:r>
          </a:p>
          <a:p>
            <a:r>
              <a:rPr lang="en-US" b="1" dirty="0"/>
              <a:t>Tools / Tech</a:t>
            </a:r>
            <a:endParaRPr lang="en-US" dirty="0"/>
          </a:p>
          <a:p>
            <a:pPr lvl="1"/>
            <a:r>
              <a:rPr lang="en-US" dirty="0" err="1"/>
              <a:t>Kaniko</a:t>
            </a:r>
            <a:r>
              <a:rPr lang="en-US" dirty="0"/>
              <a:t> (containerized image builder)</a:t>
            </a:r>
          </a:p>
          <a:p>
            <a:pPr lvl="1"/>
            <a:r>
              <a:rPr lang="en-US" dirty="0" err="1"/>
              <a:t>Buildx</a:t>
            </a:r>
            <a:r>
              <a:rPr lang="en-US" dirty="0"/>
              <a:t> + remote </a:t>
            </a:r>
            <a:r>
              <a:rPr lang="en-US" dirty="0" err="1"/>
              <a:t>BuildKit</a:t>
            </a:r>
            <a:r>
              <a:rPr lang="en-US" dirty="0"/>
              <a:t> or </a:t>
            </a:r>
            <a:r>
              <a:rPr lang="en-US" dirty="0" err="1"/>
              <a:t>BuildKit</a:t>
            </a:r>
            <a:r>
              <a:rPr lang="en-US" dirty="0"/>
              <a:t> container</a:t>
            </a:r>
          </a:p>
          <a:p>
            <a:pPr lvl="1"/>
            <a:r>
              <a:rPr lang="en-US" dirty="0"/>
              <a:t>GitLab CI / K8s or runners that can run these tools</a:t>
            </a:r>
          </a:p>
          <a:p>
            <a:pPr lvl="1"/>
            <a:r>
              <a:rPr lang="en-US" dirty="0"/>
              <a:t>Registry (GHCR/ECR/GCR/Docker Hub)</a:t>
            </a:r>
          </a:p>
          <a:p>
            <a:r>
              <a:rPr lang="en-US" b="1" dirty="0"/>
              <a:t>Who benefits &amp; why</a:t>
            </a:r>
            <a:endParaRPr lang="en-US" dirty="0"/>
          </a:p>
          <a:p>
            <a:pPr lvl="1"/>
            <a:r>
              <a:rPr lang="en-US" b="1" dirty="0"/>
              <a:t>Security:</a:t>
            </a:r>
            <a:r>
              <a:rPr lang="en-US" dirty="0"/>
              <a:t> No privileged containers; safer in multi-tenant environments.</a:t>
            </a:r>
          </a:p>
          <a:p>
            <a:pPr lvl="1"/>
            <a:r>
              <a:rPr lang="en-US" b="1" dirty="0"/>
              <a:t>SRE/Ops:</a:t>
            </a:r>
            <a:r>
              <a:rPr lang="en-US" dirty="0"/>
              <a:t> Can run builds in Kubernetes pod with limited permissions.</a:t>
            </a:r>
          </a:p>
          <a:p>
            <a:pPr lvl="1"/>
            <a:r>
              <a:rPr lang="en-US" b="1" dirty="0"/>
              <a:t>Developer:</a:t>
            </a:r>
            <a:r>
              <a:rPr lang="en-US" dirty="0"/>
              <a:t> Faster and safer builds; caching support possible.</a:t>
            </a:r>
          </a:p>
          <a:p>
            <a:pPr lvl="1"/>
            <a:r>
              <a:rPr lang="en-US" b="1" dirty="0"/>
              <a:t>Management:</a:t>
            </a:r>
            <a:r>
              <a:rPr lang="en-US" dirty="0"/>
              <a:t> Less operational risk.</a:t>
            </a:r>
          </a:p>
          <a:p>
            <a:r>
              <a:rPr lang="en-US" b="1" dirty="0"/>
              <a:t>Trade-offs</a:t>
            </a:r>
            <a:endParaRPr lang="en-US" dirty="0"/>
          </a:p>
          <a:p>
            <a:pPr lvl="1"/>
            <a:r>
              <a:rPr lang="en-US" dirty="0" err="1"/>
              <a:t>Kaniko</a:t>
            </a:r>
            <a:r>
              <a:rPr lang="en-US" dirty="0"/>
              <a:t> performance is sometimes slower than native Docker build.</a:t>
            </a:r>
          </a:p>
          <a:p>
            <a:pPr lvl="1"/>
            <a:r>
              <a:rPr lang="en-US" dirty="0" err="1"/>
              <a:t>Buildx</a:t>
            </a:r>
            <a:r>
              <a:rPr lang="en-US" dirty="0"/>
              <a:t> + </a:t>
            </a:r>
            <a:r>
              <a:rPr lang="en-US" dirty="0" err="1"/>
              <a:t>BuildKit</a:t>
            </a:r>
            <a:r>
              <a:rPr lang="en-US" dirty="0"/>
              <a:t> requires additional configuration for cache and remote usage.</a:t>
            </a:r>
          </a:p>
          <a:p>
            <a:pPr lvl="1"/>
            <a:r>
              <a:rPr lang="en-US" dirty="0"/>
              <a:t>Some image features (like mounting) behave differently.</a:t>
            </a:r>
          </a:p>
          <a:p>
            <a:r>
              <a:rPr lang="en-US" b="1" dirty="0"/>
              <a:t>When to pick</a:t>
            </a:r>
            <a:endParaRPr lang="en-US" dirty="0"/>
          </a:p>
          <a:p>
            <a:pPr lvl="1"/>
            <a:r>
              <a:rPr lang="en-US" dirty="0"/>
              <a:t>When security isolation is important and you run CI in Kubernetes or unprivileged runners.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875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748F-8A6D-68C4-3D97-12F3EB4D4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C710-C3B4-71EF-0210-111C0960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94"/>
            <a:ext cx="10515600" cy="519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Alternate Architectures and Tools 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612D3-6BF9-637B-2F5D-84B7C38D4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5408"/>
            <a:ext cx="10515600" cy="567551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Full </a:t>
            </a:r>
            <a:r>
              <a:rPr lang="en-US" dirty="0" err="1"/>
              <a:t>GitOps</a:t>
            </a:r>
            <a:r>
              <a:rPr lang="en-US" dirty="0"/>
              <a:t> Flow: Build ➜ Push ➜ Deploy using Helm &amp; </a:t>
            </a:r>
            <a:r>
              <a:rPr lang="en-US" dirty="0" err="1"/>
              <a:t>ArgoCD</a:t>
            </a:r>
            <a:endParaRPr lang="en-US" dirty="0"/>
          </a:p>
          <a:p>
            <a:endParaRPr lang="en-US" dirty="0"/>
          </a:p>
          <a:p>
            <a:r>
              <a:rPr lang="en-US" dirty="0"/>
              <a:t>After building and pushing images, automatically update deployment manifests (Helm values or </a:t>
            </a:r>
            <a:r>
              <a:rPr lang="en-US" dirty="0" err="1"/>
              <a:t>Kustomize</a:t>
            </a:r>
            <a:r>
              <a:rPr lang="en-US" dirty="0"/>
              <a:t>) and let </a:t>
            </a:r>
            <a:r>
              <a:rPr lang="en-US" dirty="0" err="1"/>
              <a:t>ArgoCD</a:t>
            </a:r>
            <a:r>
              <a:rPr lang="en-US" dirty="0"/>
              <a:t>/</a:t>
            </a:r>
            <a:r>
              <a:rPr lang="en-US" dirty="0" err="1"/>
              <a:t>GitOps</a:t>
            </a:r>
            <a:r>
              <a:rPr lang="en-US" dirty="0"/>
              <a:t> apply changes to clusters.</a:t>
            </a:r>
          </a:p>
          <a:p>
            <a:r>
              <a:rPr lang="en-US" b="1" dirty="0"/>
              <a:t>Tools / Tech</a:t>
            </a:r>
            <a:endParaRPr lang="en-US" dirty="0"/>
          </a:p>
          <a:p>
            <a:pPr lvl="1"/>
            <a:r>
              <a:rPr lang="en-US" dirty="0"/>
              <a:t>CI builds &amp; registry (any of above)</a:t>
            </a:r>
          </a:p>
          <a:p>
            <a:pPr lvl="1"/>
            <a:r>
              <a:rPr lang="en-US" dirty="0"/>
              <a:t>Helm / </a:t>
            </a:r>
            <a:r>
              <a:rPr lang="en-US" dirty="0" err="1"/>
              <a:t>Kustomize</a:t>
            </a:r>
            <a:endParaRPr lang="en-US" dirty="0"/>
          </a:p>
          <a:p>
            <a:pPr lvl="1"/>
            <a:r>
              <a:rPr lang="en-US" dirty="0" err="1"/>
              <a:t>ArgoCD</a:t>
            </a:r>
            <a:r>
              <a:rPr lang="en-US" dirty="0"/>
              <a:t> / Flux (</a:t>
            </a:r>
            <a:r>
              <a:rPr lang="en-US" dirty="0" err="1"/>
              <a:t>GitOps</a:t>
            </a:r>
            <a:r>
              <a:rPr lang="en-US" dirty="0"/>
              <a:t> controllers)</a:t>
            </a:r>
          </a:p>
          <a:p>
            <a:pPr lvl="1"/>
            <a:r>
              <a:rPr lang="en-US" dirty="0"/>
              <a:t>Kubernetes cluster for staging/prod</a:t>
            </a:r>
          </a:p>
          <a:p>
            <a:r>
              <a:rPr lang="en-US" b="1" dirty="0"/>
              <a:t>Who benefits &amp; why</a:t>
            </a:r>
            <a:endParaRPr lang="en-US" dirty="0"/>
          </a:p>
          <a:p>
            <a:pPr lvl="1"/>
            <a:r>
              <a:rPr lang="en-US" b="1" dirty="0"/>
              <a:t>Developer:</a:t>
            </a:r>
            <a:r>
              <a:rPr lang="en-US" dirty="0"/>
              <a:t> Deploys are predictable and declarative from Git.</a:t>
            </a:r>
          </a:p>
          <a:p>
            <a:pPr lvl="1"/>
            <a:r>
              <a:rPr lang="en-US" b="1" dirty="0"/>
              <a:t>SRE/Ops:</a:t>
            </a:r>
            <a:r>
              <a:rPr lang="en-US" dirty="0"/>
              <a:t> Clear audit trail and easy rollbacks with Git as single source of truth.</a:t>
            </a:r>
          </a:p>
          <a:p>
            <a:pPr lvl="1"/>
            <a:r>
              <a:rPr lang="en-US" b="1" dirty="0"/>
              <a:t>QA/Product:</a:t>
            </a:r>
            <a:r>
              <a:rPr lang="en-US" dirty="0"/>
              <a:t> Faster, repeatable promotion to staging and production.</a:t>
            </a:r>
          </a:p>
          <a:p>
            <a:pPr lvl="1"/>
            <a:r>
              <a:rPr lang="en-US" b="1" dirty="0"/>
              <a:t>Management:</a:t>
            </a:r>
            <a:r>
              <a:rPr lang="en-US" dirty="0"/>
              <a:t> Better compliance and traceability.</a:t>
            </a:r>
          </a:p>
          <a:p>
            <a:r>
              <a:rPr lang="en-US" b="1" dirty="0"/>
              <a:t>Trade-offs</a:t>
            </a:r>
            <a:endParaRPr lang="en-US" dirty="0"/>
          </a:p>
          <a:p>
            <a:pPr lvl="1"/>
            <a:r>
              <a:rPr lang="en-US" dirty="0"/>
              <a:t>Requires Kubernetes and </a:t>
            </a:r>
            <a:r>
              <a:rPr lang="en-US" dirty="0" err="1"/>
              <a:t>GitOps</a:t>
            </a:r>
            <a:r>
              <a:rPr lang="en-US" dirty="0"/>
              <a:t> maturity.</a:t>
            </a:r>
          </a:p>
          <a:p>
            <a:pPr lvl="1"/>
            <a:r>
              <a:rPr lang="en-US" dirty="0"/>
              <a:t>More moving parts: additional controllers to manage.</a:t>
            </a:r>
          </a:p>
          <a:p>
            <a:pPr lvl="1"/>
            <a:r>
              <a:rPr lang="en-US" dirty="0"/>
              <a:t>Additional learning curve.</a:t>
            </a:r>
          </a:p>
          <a:p>
            <a:r>
              <a:rPr lang="en-US" b="1" dirty="0"/>
              <a:t>When to pick</a:t>
            </a:r>
            <a:endParaRPr lang="en-US" dirty="0"/>
          </a:p>
          <a:p>
            <a:pPr lvl="1"/>
            <a:r>
              <a:rPr lang="en-US" dirty="0"/>
              <a:t>Teams aiming for continuous deployment and strong environment drift control.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641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5E2BF-EF3F-2819-6FC5-88D5543E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1AE0-3AE7-D414-6314-2EF9EC96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8"/>
            <a:ext cx="10515600" cy="4607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Alternate Architectures and Tools 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FF96-1AD0-AA35-59A8-B449F51CF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908"/>
            <a:ext cx="10515600" cy="56558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Add Security &amp; Compliance: SAST / DAST / Image Scanning / Attestation</a:t>
            </a:r>
          </a:p>
          <a:p>
            <a:r>
              <a:rPr lang="en-US" dirty="0"/>
              <a:t>Complement any pipeline with security scanning (</a:t>
            </a:r>
            <a:r>
              <a:rPr lang="en-US" dirty="0" err="1"/>
              <a:t>Snyk</a:t>
            </a:r>
            <a:r>
              <a:rPr lang="en-US" dirty="0"/>
              <a:t>, </a:t>
            </a:r>
            <a:r>
              <a:rPr lang="en-US" dirty="0" err="1"/>
              <a:t>Trivy</a:t>
            </a:r>
            <a:r>
              <a:rPr lang="en-US" dirty="0"/>
              <a:t>, Clair), SAST tools (</a:t>
            </a:r>
            <a:r>
              <a:rPr lang="en-US" dirty="0" err="1"/>
              <a:t>Semgrep</a:t>
            </a:r>
            <a:r>
              <a:rPr lang="en-US" dirty="0"/>
              <a:t>/</a:t>
            </a:r>
            <a:r>
              <a:rPr lang="en-US" dirty="0" err="1"/>
              <a:t>SpotBugs</a:t>
            </a:r>
            <a:r>
              <a:rPr lang="en-US" dirty="0"/>
              <a:t>), and image-signing (cosign/Notary); fail build on policy violations.</a:t>
            </a:r>
          </a:p>
          <a:p>
            <a:r>
              <a:rPr lang="en-US" b="1" dirty="0"/>
              <a:t>Tools / Tech</a:t>
            </a:r>
            <a:endParaRPr lang="en-US" dirty="0"/>
          </a:p>
          <a:p>
            <a:pPr lvl="1"/>
            <a:r>
              <a:rPr lang="en-US" dirty="0" err="1"/>
              <a:t>Trivy</a:t>
            </a:r>
            <a:r>
              <a:rPr lang="en-US" dirty="0"/>
              <a:t> / Clair / </a:t>
            </a:r>
            <a:r>
              <a:rPr lang="en-US" dirty="0" err="1"/>
              <a:t>Anchore</a:t>
            </a:r>
            <a:r>
              <a:rPr lang="en-US" dirty="0"/>
              <a:t> / </a:t>
            </a:r>
            <a:r>
              <a:rPr lang="en-US" dirty="0" err="1"/>
              <a:t>Snyk</a:t>
            </a:r>
            <a:r>
              <a:rPr lang="en-US" dirty="0"/>
              <a:t> for image scanning</a:t>
            </a:r>
          </a:p>
          <a:p>
            <a:pPr lvl="1"/>
            <a:r>
              <a:rPr lang="en-US" dirty="0" err="1"/>
              <a:t>Semgrep</a:t>
            </a:r>
            <a:r>
              <a:rPr lang="en-US" dirty="0"/>
              <a:t> / </a:t>
            </a:r>
            <a:r>
              <a:rPr lang="en-US" dirty="0" err="1"/>
              <a:t>SpotBugs</a:t>
            </a:r>
            <a:r>
              <a:rPr lang="en-US" dirty="0"/>
              <a:t> for code scanning</a:t>
            </a:r>
          </a:p>
          <a:p>
            <a:pPr lvl="1"/>
            <a:r>
              <a:rPr lang="en-US" dirty="0"/>
              <a:t>cosign / Notary for image signing and verification</a:t>
            </a:r>
          </a:p>
          <a:p>
            <a:pPr lvl="1"/>
            <a:r>
              <a:rPr lang="en-US" dirty="0"/>
              <a:t>GitLab CI security scanning features or external tools</a:t>
            </a:r>
          </a:p>
          <a:p>
            <a:r>
              <a:rPr lang="en-US" b="1" dirty="0"/>
              <a:t>Who benefits &amp; why</a:t>
            </a:r>
            <a:endParaRPr lang="en-US" dirty="0"/>
          </a:p>
          <a:p>
            <a:pPr lvl="1"/>
            <a:r>
              <a:rPr lang="en-US" b="1" dirty="0"/>
              <a:t>Security:</a:t>
            </a:r>
            <a:r>
              <a:rPr lang="en-US" dirty="0"/>
              <a:t> Early detection of vulnerabilities and policy enforcement.</a:t>
            </a:r>
          </a:p>
          <a:p>
            <a:pPr lvl="1"/>
            <a:r>
              <a:rPr lang="en-US" b="1" dirty="0"/>
              <a:t>Developer:</a:t>
            </a:r>
            <a:r>
              <a:rPr lang="en-US" dirty="0"/>
              <a:t> Faster feedback on security issues.</a:t>
            </a:r>
          </a:p>
          <a:p>
            <a:pPr lvl="1"/>
            <a:r>
              <a:rPr lang="en-US" b="1" dirty="0"/>
              <a:t>Management:</a:t>
            </a:r>
            <a:r>
              <a:rPr lang="en-US" dirty="0"/>
              <a:t> Compliance evidence and risk reduction.</a:t>
            </a:r>
          </a:p>
          <a:p>
            <a:r>
              <a:rPr lang="en-US" b="1" dirty="0"/>
              <a:t>Trade-offs</a:t>
            </a:r>
            <a:endParaRPr lang="en-US" dirty="0"/>
          </a:p>
          <a:p>
            <a:pPr lvl="1"/>
            <a:r>
              <a:rPr lang="en-US" dirty="0"/>
              <a:t>Additional pipeline time and complexity.</a:t>
            </a:r>
          </a:p>
          <a:p>
            <a:pPr lvl="1"/>
            <a:r>
              <a:rPr lang="en-US" dirty="0"/>
              <a:t>False positives need triage and process for remediation.</a:t>
            </a:r>
          </a:p>
          <a:p>
            <a:r>
              <a:rPr lang="en-US" b="1" dirty="0"/>
              <a:t>When to pick</a:t>
            </a:r>
            <a:endParaRPr lang="en-US" dirty="0"/>
          </a:p>
          <a:p>
            <a:pPr lvl="1"/>
            <a:r>
              <a:rPr lang="en-US" dirty="0"/>
              <a:t>Projects requiring security posture, compliance, or production readiness.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792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19AC6-5625-4D1E-B7C7-AEF6BC65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99A4E-22F7-F79B-B019-7B602B80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95"/>
            <a:ext cx="10515600" cy="519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Alternate Architectures and Tools 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74F5B-03CB-F114-A1AF-04D719D4F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273"/>
            <a:ext cx="10515600" cy="560669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Infrastructure-as-Code for Runner Provisioning (Automation)</a:t>
            </a:r>
          </a:p>
          <a:p>
            <a:endParaRPr lang="en-US" dirty="0"/>
          </a:p>
          <a:p>
            <a:r>
              <a:rPr lang="en-US" dirty="0"/>
              <a:t>Instead of manual setup, automate runner lifecycle using Terraform / Ansible / Packer—makes repeatable, auditable runner provisioning.</a:t>
            </a:r>
          </a:p>
          <a:p>
            <a:r>
              <a:rPr lang="en-US" b="1" dirty="0"/>
              <a:t>Tools / Tech</a:t>
            </a:r>
            <a:endParaRPr lang="en-US" dirty="0"/>
          </a:p>
          <a:p>
            <a:pPr lvl="1"/>
            <a:r>
              <a:rPr lang="en-US" dirty="0"/>
              <a:t>Terraform / Cloud-</a:t>
            </a:r>
            <a:r>
              <a:rPr lang="en-US" dirty="0" err="1"/>
              <a:t>init</a:t>
            </a:r>
            <a:r>
              <a:rPr lang="en-US" dirty="0"/>
              <a:t> / Packer to create images</a:t>
            </a:r>
          </a:p>
          <a:p>
            <a:pPr lvl="1"/>
            <a:r>
              <a:rPr lang="en-US" dirty="0"/>
              <a:t>Ansible to configure GitLab Runner &amp; Docker</a:t>
            </a:r>
          </a:p>
          <a:p>
            <a:pPr lvl="1"/>
            <a:r>
              <a:rPr lang="en-US" dirty="0"/>
              <a:t>CI to trigger runner provisioning</a:t>
            </a:r>
          </a:p>
          <a:p>
            <a:r>
              <a:rPr lang="en-US" b="1" dirty="0"/>
              <a:t>Who benefits &amp; why</a:t>
            </a:r>
            <a:endParaRPr lang="en-US" dirty="0"/>
          </a:p>
          <a:p>
            <a:pPr lvl="1"/>
            <a:r>
              <a:rPr lang="en-US" b="1" dirty="0"/>
              <a:t>SRE/Ops:</a:t>
            </a:r>
            <a:r>
              <a:rPr lang="en-US" dirty="0"/>
              <a:t> Reliable, reproducible runners; compliant configuration.</a:t>
            </a:r>
          </a:p>
          <a:p>
            <a:pPr lvl="1"/>
            <a:r>
              <a:rPr lang="en-US" b="1" dirty="0"/>
              <a:t>Developer:</a:t>
            </a:r>
            <a:r>
              <a:rPr lang="en-US" dirty="0"/>
              <a:t> Predictable environments for builds.</a:t>
            </a:r>
          </a:p>
          <a:p>
            <a:pPr lvl="1"/>
            <a:r>
              <a:rPr lang="en-US" b="1" dirty="0"/>
              <a:t>Management:</a:t>
            </a:r>
            <a:r>
              <a:rPr lang="en-US" dirty="0"/>
              <a:t> Lower human-error operational risk.</a:t>
            </a:r>
          </a:p>
          <a:p>
            <a:r>
              <a:rPr lang="en-US" b="1" dirty="0"/>
              <a:t>Trade-offs</a:t>
            </a:r>
            <a:endParaRPr lang="en-US" dirty="0"/>
          </a:p>
          <a:p>
            <a:pPr lvl="1"/>
            <a:r>
              <a:rPr lang="en-US" dirty="0"/>
              <a:t>Requires </a:t>
            </a:r>
            <a:r>
              <a:rPr lang="en-US" dirty="0" err="1"/>
              <a:t>IaC</a:t>
            </a:r>
            <a:r>
              <a:rPr lang="en-US" dirty="0"/>
              <a:t> expertise and initial investment.</a:t>
            </a:r>
          </a:p>
          <a:p>
            <a:pPr lvl="1"/>
            <a:r>
              <a:rPr lang="en-US" dirty="0"/>
              <a:t>Running cost for provisioned infrastructure.</a:t>
            </a:r>
          </a:p>
          <a:p>
            <a:r>
              <a:rPr lang="en-US" b="1" dirty="0"/>
              <a:t>When to pick</a:t>
            </a:r>
            <a:endParaRPr lang="en-US" dirty="0"/>
          </a:p>
          <a:p>
            <a:pPr lvl="1"/>
            <a:r>
              <a:rPr lang="en-US" dirty="0"/>
              <a:t>Larger teams or orgs that need standardized runner fleets.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29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BB35-652D-9765-D061-A91924757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B8B8-08BF-F019-9F3F-8AC5CE61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87"/>
            <a:ext cx="10515600" cy="41162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Quick 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620610-DFC9-4AF1-FAA8-646F7988EB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447662"/>
              </p:ext>
            </p:extLst>
          </p:nvPr>
        </p:nvGraphicFramePr>
        <p:xfrm>
          <a:off x="964642" y="783770"/>
          <a:ext cx="10515600" cy="57175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7697865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183750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07369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07949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00855413"/>
                    </a:ext>
                  </a:extLst>
                </a:gridCol>
              </a:tblGrid>
              <a:tr h="635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Solution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Tools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Best for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5364586"/>
                  </a:ext>
                </a:extLst>
              </a:tr>
              <a:tr h="6352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Shared Runners + GitLab Registry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GitLab.com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Quick, low maintenance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Less control, quotas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Small teams / demos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60910147"/>
                  </a:ext>
                </a:extLst>
              </a:tr>
              <a:tr h="6352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Runner on K8s + kaniko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K8s, kaniko, Helm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Autoscale, isolation, secure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Ops complexity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Teams on K8s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61754691"/>
                  </a:ext>
                </a:extLst>
              </a:tr>
              <a:tr h="6352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Cloud Build / Actions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GCB / GitHub Actions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Fully managed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Cross-system integration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Cloud-centric orgs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52472760"/>
                  </a:ext>
                </a:extLst>
              </a:tr>
              <a:tr h="6352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DinD on Linux VMs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GitLab Runner, DinD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Traditional Docker parity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Privileged, security risk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Controlled Linux infra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6407973"/>
                  </a:ext>
                </a:extLst>
              </a:tr>
              <a:tr h="6352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BuildKit / Kaniko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BuildKit/kaniko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 privileged, secure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Setup complexity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Multi-tenant / secure env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59657042"/>
                  </a:ext>
                </a:extLst>
              </a:tr>
              <a:tr h="6352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GitOps (ArgoCD/Flux)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ArgoCD + Helm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Declarative CD, auditability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Needs K8s + process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Mature teams with K8s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78566318"/>
                  </a:ext>
                </a:extLst>
              </a:tr>
              <a:tr h="6352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Security Scanning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Trivy/Snyk, cosign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Early detection and attestation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Extra time/complexity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Production systems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2037188"/>
                  </a:ext>
                </a:extLst>
              </a:tr>
              <a:tr h="6352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IaC Runner Provisioning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Terraform/Ansible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Reproducible infra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Initial investment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Medium/large orgs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52641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657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02611-7949-A7A7-4363-82E994238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5C4A-0A51-71D5-D17B-7FB994F6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2875"/>
          </a:xfrm>
        </p:spPr>
        <p:txBody>
          <a:bodyPr/>
          <a:lstStyle/>
          <a:p>
            <a:pPr algn="ctr"/>
            <a:r>
              <a:rPr lang="en-US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122659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af293e6-3850-4258-b2c7-0aa0e3bfa7d9}" enabled="1" method="Privileged" siteId="{b9fec68c-c92d-461e-9a97-3d03a0f18b82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2263</Words>
  <Application>Microsoft Office PowerPoint</Application>
  <PresentationFormat>Widescreen</PresentationFormat>
  <Paragraphs>316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Office Theme</vt:lpstr>
      <vt:lpstr>CDAAS Candidate Assignment</vt:lpstr>
      <vt:lpstr>GitLab CI Docker Pipeline-Architecture Diagram</vt:lpstr>
      <vt:lpstr>CI/CD Swimlane Diagram</vt:lpstr>
      <vt:lpstr>Challenges - Real-World Engineering Experience . . .</vt:lpstr>
      <vt:lpstr>Challenges - Real-World Engineering Experience . . .</vt:lpstr>
      <vt:lpstr>Challenges - Real-World Engineering Experience . . .</vt:lpstr>
      <vt:lpstr>Challenges - Real-World Engineering Experience . . .</vt:lpstr>
      <vt:lpstr>Challenges - Real-World Engineering Experience . . .</vt:lpstr>
      <vt:lpstr>Challenges - Real-World Engineering Experience . . .</vt:lpstr>
      <vt:lpstr>Challenges - Real-World Engineering Experience . . .</vt:lpstr>
      <vt:lpstr>Alternate Architectures and Tools . . .</vt:lpstr>
      <vt:lpstr>Alternate Architectures and Tools . . .</vt:lpstr>
      <vt:lpstr>Alternate Architectures and Tools . . .</vt:lpstr>
      <vt:lpstr>Alternate Architectures and Tools . . .</vt:lpstr>
      <vt:lpstr>Alternate Architectures and Tools . . .</vt:lpstr>
      <vt:lpstr>Alternate Architectures and Tools . . .</vt:lpstr>
      <vt:lpstr>Alternate Architectures and Tools . . .</vt:lpstr>
      <vt:lpstr>Alternate Architectures and Tools . . .</vt:lpstr>
      <vt:lpstr>Quick View</vt:lpstr>
      <vt:lpstr>Questions ?</vt:lpstr>
    </vt:vector>
  </TitlesOfParts>
  <Company>CGI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Vijay</dc:creator>
  <cp:lastModifiedBy>Kumar, Vijay</cp:lastModifiedBy>
  <cp:revision>4</cp:revision>
  <dcterms:created xsi:type="dcterms:W3CDTF">2026-02-04T05:00:23Z</dcterms:created>
  <dcterms:modified xsi:type="dcterms:W3CDTF">2026-02-04T06:56:46Z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</Properties>
</file>